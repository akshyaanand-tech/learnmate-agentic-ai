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64" r:id="rId10"/>
    <p:sldId id="278" r:id="rId11"/>
    <p:sldId id="286" r:id="rId12"/>
    <p:sldId id="277" r:id="rId13"/>
    <p:sldId id="280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90" autoAdjust="0"/>
    <p:restoredTop sz="94686"/>
  </p:normalViewPr>
  <p:slideViewPr>
    <p:cSldViewPr snapToGrid="0">
      <p:cViewPr varScale="1">
        <p:scale>
          <a:sx n="55" d="100"/>
          <a:sy n="55" d="100"/>
        </p:scale>
        <p:origin x="53" y="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kshyaanand-tech/LearnMate-Agentic-AI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4211307968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/>
                        <a:t>Akshya Anand</a:t>
                      </a:r>
                      <a:endParaRPr sz="2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akshyaanand07@gmail.com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/>
                        <a:t>9496414100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Education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GB" sz="2400" b="1" dirty="0" err="1"/>
              <a:t>LearnMate</a:t>
            </a:r>
            <a:r>
              <a:rPr lang="en-GB" sz="2400" b="1" dirty="0"/>
              <a:t>: Personalized Course Pathways Agent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F00E31-0AE6-1F80-172F-35DFA1931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990" y="3614965"/>
            <a:ext cx="769440" cy="10096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952811"/>
            <a:ext cx="10607040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</a:t>
            </a:r>
            <a:r>
              <a:rPr lang="en-GB" b="1" dirty="0" err="1"/>
              <a:t>LearnMate</a:t>
            </a:r>
            <a:r>
              <a:rPr lang="en-GB" b="1" dirty="0"/>
              <a:t>: Personalized Course Pathways Agent</a:t>
            </a:r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r>
              <a:rPr lang="en-GB" dirty="0"/>
              <a:t>Students often struggle to identify the right learning path that aligns with their interests, current skill level, and long-term career goals. With thousands of online courses, certifications, and learning resources available, learners frequently experience </a:t>
            </a:r>
            <a:r>
              <a:rPr lang="en-GB" b="1" dirty="0"/>
              <a:t>confusion, lack of direction, and inconsistent progress.</a:t>
            </a:r>
          </a:p>
          <a:p>
            <a:r>
              <a:rPr lang="en-GB" dirty="0"/>
              <a:t>Traditional academic guidance is often generalized and cannot provide personalized recommendations for every student. As a result, students may spend significant time on irrelevant courses or fail to build the skills required for their desired careers.</a:t>
            </a:r>
          </a:p>
          <a:p>
            <a:r>
              <a:rPr lang="en-GB" dirty="0"/>
              <a:t>Without </a:t>
            </a:r>
            <a:r>
              <a:rPr lang="en-GB" b="1" dirty="0"/>
              <a:t>personalized and adaptive learning guidance</a:t>
            </a:r>
            <a:r>
              <a:rPr lang="en-GB" dirty="0"/>
              <a:t>, students face difficulties in selecting the right courses, tracking progress, and achieving career objectives efficiently.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r>
              <a:rPr lang="en-GB" dirty="0"/>
              <a:t>Build an </a:t>
            </a:r>
            <a:r>
              <a:rPr lang="en-GB" b="1" dirty="0"/>
              <a:t>AI-powered Personalized Course Pathways Agent</a:t>
            </a:r>
            <a:r>
              <a:rPr lang="en-GB" dirty="0"/>
              <a:t> that provides customized learning roadmaps and career-oriented guidance for students. The solution should:</a:t>
            </a:r>
          </a:p>
          <a:p>
            <a:r>
              <a:rPr lang="en-GB" dirty="0"/>
              <a:t>• </a:t>
            </a:r>
            <a:r>
              <a:rPr lang="en-GB" b="1" dirty="0"/>
              <a:t>Profile Analysis</a:t>
            </a:r>
            <a:r>
              <a:rPr lang="en-GB" dirty="0"/>
              <a:t> – Understand student interests, educational background, career goals, and learning preferences.</a:t>
            </a:r>
          </a:p>
          <a:p>
            <a:r>
              <a:rPr lang="en-GB" dirty="0"/>
              <a:t>• </a:t>
            </a:r>
            <a:r>
              <a:rPr lang="en-GB" b="1" dirty="0"/>
              <a:t>Skill Assessment</a:t>
            </a:r>
            <a:r>
              <a:rPr lang="en-GB" dirty="0"/>
              <a:t> – Evaluate current knowledge levels and identify skill gaps.</a:t>
            </a:r>
          </a:p>
          <a:p>
            <a:r>
              <a:rPr lang="en-GB" dirty="0"/>
              <a:t>• </a:t>
            </a:r>
            <a:r>
              <a:rPr lang="en-GB" b="1" dirty="0"/>
              <a:t>Personalized Learning Roadmaps</a:t>
            </a:r>
            <a:r>
              <a:rPr lang="en-GB" dirty="0"/>
              <a:t> – Generate structured learning pathways tailored to student goals.</a:t>
            </a:r>
          </a:p>
          <a:p>
            <a:r>
              <a:rPr lang="en-GB" dirty="0"/>
              <a:t>• </a:t>
            </a:r>
            <a:r>
              <a:rPr lang="en-GB" b="1" dirty="0"/>
              <a:t>Learning Resource Retrieval (RAG)</a:t>
            </a:r>
            <a:r>
              <a:rPr lang="en-GB" dirty="0"/>
              <a:t> – Retrieve and recommend relevant courses, documentation, tutorials, and practice platforms from trusted educational resources.</a:t>
            </a:r>
          </a:p>
          <a:p>
            <a:r>
              <a:rPr lang="en-GB" dirty="0"/>
              <a:t>• </a:t>
            </a:r>
            <a:r>
              <a:rPr lang="en-GB" b="1" dirty="0"/>
              <a:t>Progress Guidance</a:t>
            </a:r>
            <a:r>
              <a:rPr lang="en-GB" dirty="0"/>
              <a:t> – Suggest milestones, projects, and certifications for continuous learning.</a:t>
            </a:r>
          </a:p>
          <a:p>
            <a:r>
              <a:rPr lang="en-GB" dirty="0"/>
              <a:t>• </a:t>
            </a:r>
            <a:r>
              <a:rPr lang="en-GB" b="1" dirty="0"/>
              <a:t>Multi-Agent System</a:t>
            </a:r>
            <a:endParaRPr lang="en-GB" dirty="0"/>
          </a:p>
          <a:p>
            <a:r>
              <a:rPr lang="en-GB" b="1" dirty="0"/>
              <a:t>Profile Analysis Agent</a:t>
            </a:r>
            <a:r>
              <a:rPr lang="en-GB" dirty="0"/>
              <a:t> (collects learner information) </a:t>
            </a:r>
          </a:p>
          <a:p>
            <a:r>
              <a:rPr lang="en-GB" b="1" dirty="0"/>
              <a:t>Skill Assessment Agent</a:t>
            </a:r>
            <a:r>
              <a:rPr lang="en-GB" dirty="0"/>
              <a:t> (evaluates current proficiency) </a:t>
            </a:r>
          </a:p>
          <a:p>
            <a:r>
              <a:rPr lang="en-GB" b="1" dirty="0"/>
              <a:t>Roadmap Generation Agent</a:t>
            </a:r>
            <a:r>
              <a:rPr lang="en-GB" dirty="0"/>
              <a:t> (creates personalized learning pathways) </a:t>
            </a:r>
          </a:p>
          <a:p>
            <a:r>
              <a:rPr lang="en-GB" b="1" dirty="0"/>
              <a:t>Learning Resource Agent</a:t>
            </a:r>
            <a:r>
              <a:rPr lang="en-GB" dirty="0"/>
              <a:t> (recommends courses and resources) </a:t>
            </a:r>
          </a:p>
          <a:p>
            <a:r>
              <a:rPr lang="en-GB" dirty="0"/>
              <a:t>• </a:t>
            </a:r>
            <a:r>
              <a:rPr lang="en-GB" b="1" dirty="0"/>
              <a:t>Learning Dashboard</a:t>
            </a:r>
            <a:r>
              <a:rPr lang="en-GB" dirty="0"/>
              <a:t> – Display recommended roadmap stages, completed milestones, skill progress, and future learning objectives.</a:t>
            </a:r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491146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667512" y="1165753"/>
            <a:ext cx="1060704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IN" dirty="0"/>
          </a:p>
          <a:p>
            <a:pPr fontAlgn="base"/>
            <a:r>
              <a:rPr lang="en-IN" sz="1600" dirty="0"/>
              <a:t>I used </a:t>
            </a:r>
            <a:r>
              <a:rPr lang="en-IN" sz="1600" b="1" dirty="0" err="1">
                <a:highlight>
                  <a:srgbClr val="FFFF00"/>
                </a:highlight>
              </a:rPr>
              <a:t>LangFlow</a:t>
            </a:r>
            <a:r>
              <a:rPr lang="en-IN" sz="1600" b="1" dirty="0">
                <a:highlight>
                  <a:srgbClr val="FFFF00"/>
                </a:highlight>
              </a:rPr>
              <a:t> + IBM watsonx.ai + IBM Granite Models</a:t>
            </a:r>
          </a:p>
          <a:p>
            <a:pPr fontAlgn="base"/>
            <a:endParaRPr lang="en-IN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E43DC2-1008-7FC3-3140-2B2233CA5123}"/>
              </a:ext>
            </a:extLst>
          </p:cNvPr>
          <p:cNvSpPr txBox="1"/>
          <p:nvPr/>
        </p:nvSpPr>
        <p:spPr>
          <a:xfrm>
            <a:off x="576072" y="1290180"/>
            <a:ext cx="1078908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LearnMate</a:t>
            </a:r>
            <a:r>
              <a:rPr lang="en-GB" b="1" dirty="0"/>
              <a:t> – AI-Powered Personalized Course Pathways Agent</a:t>
            </a:r>
          </a:p>
          <a:p>
            <a:r>
              <a:rPr lang="en-GB" dirty="0"/>
              <a:t>The proposed solution is </a:t>
            </a:r>
            <a:r>
              <a:rPr lang="en-GB" dirty="0" err="1"/>
              <a:t>LearnMate</a:t>
            </a:r>
            <a:r>
              <a:rPr lang="en-GB" dirty="0"/>
              <a:t>, a multi-agent AI-powered Personalized Course Pathways Agent built using </a:t>
            </a:r>
            <a:r>
              <a:rPr lang="en-GB" dirty="0" err="1"/>
              <a:t>LangFlow</a:t>
            </a:r>
            <a:r>
              <a:rPr lang="en-GB" dirty="0"/>
              <a:t>, IBM watsonx.ai, and IBM Granite Models. The system helps students identify the most suitable learning path based on their interests, current skill level, and long-term career goals.</a:t>
            </a:r>
          </a:p>
          <a:p>
            <a:r>
              <a:rPr lang="en-GB" dirty="0"/>
              <a:t>At its core, the solution uses a Retrieval-Augmented Generation (RAG) pipeline to fetch relevant learning resources, course information, certification details, and educational content from trusted sources. These resources are indexed in a vector database, allowing IBM Granite models to retrieve and recommend the most relevant learning materials.</a:t>
            </a:r>
          </a:p>
          <a:p>
            <a:endParaRPr lang="en-GB" dirty="0"/>
          </a:p>
          <a:p>
            <a:r>
              <a:rPr lang="en-GB" dirty="0"/>
              <a:t>The system consists of four key agents:</a:t>
            </a:r>
          </a:p>
          <a:p>
            <a:r>
              <a:rPr lang="en-GB" b="1" dirty="0"/>
              <a:t>Profile Analysis Agent</a:t>
            </a:r>
            <a:r>
              <a:rPr lang="en-GB" dirty="0"/>
              <a:t> – Collects and </a:t>
            </a:r>
            <a:r>
              <a:rPr lang="en-GB" dirty="0" err="1"/>
              <a:t>analyzes</a:t>
            </a:r>
            <a:r>
              <a:rPr lang="en-GB" dirty="0"/>
              <a:t> student interests, educational background, learning preferences, and career aspirations.</a:t>
            </a:r>
          </a:p>
          <a:p>
            <a:r>
              <a:rPr lang="en-GB" b="1" dirty="0"/>
              <a:t>Skill Assessment Agent</a:t>
            </a:r>
            <a:r>
              <a:rPr lang="en-GB" dirty="0"/>
              <a:t> – Evaluates the learner’s current proficiency level and identifies knowledge gaps.</a:t>
            </a:r>
          </a:p>
          <a:p>
            <a:r>
              <a:rPr lang="en-GB" b="1" dirty="0"/>
              <a:t>Roadmap Generation Agent</a:t>
            </a:r>
            <a:r>
              <a:rPr lang="en-GB" dirty="0"/>
              <a:t> – Creates personalized learning pathways with milestones, recommended topics, and project suggestions aligned with career goals.</a:t>
            </a:r>
          </a:p>
          <a:p>
            <a:r>
              <a:rPr lang="en-GB" b="1" dirty="0"/>
              <a:t>Learning Resource Agent</a:t>
            </a:r>
            <a:r>
              <a:rPr lang="en-GB" dirty="0"/>
              <a:t> – Recommends courses, tutorials, documentation, practice platforms, certifications, and project-based learning resources.</a:t>
            </a:r>
          </a:p>
          <a:p>
            <a:endParaRPr lang="en-GB" dirty="0"/>
          </a:p>
          <a:p>
            <a:r>
              <a:rPr lang="en-GB" dirty="0"/>
              <a:t>The solution includes an interactive dashboard that visualizes learning progress, completed milestones, recommended next steps, skill development trends, and career readiness indicators.</a:t>
            </a:r>
          </a:p>
          <a:p>
            <a:r>
              <a:rPr lang="en-GB" dirty="0" err="1"/>
              <a:t>LangFlow</a:t>
            </a:r>
            <a:r>
              <a:rPr lang="en-GB" dirty="0"/>
              <a:t> is used to orchestrate the multi-agent workflow, while IBM watsonx.ai provides model deployment, governance, and AI services. IBM Granite models power reasoning, recommendation generation, and personalized roadmap creation.</a:t>
            </a:r>
          </a:p>
          <a:p>
            <a:r>
              <a:rPr lang="en-GB" dirty="0"/>
              <a:t>Overall, </a:t>
            </a:r>
            <a:r>
              <a:rPr lang="en-GB" dirty="0" err="1"/>
              <a:t>LearnMate</a:t>
            </a:r>
            <a:r>
              <a:rPr lang="en-GB" dirty="0"/>
              <a:t> acts as an intelligent AI mentor that provides adaptive learning guidance, helping students make informed decisions and achieve their educational and career objectives efficiently.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GB" b="1" dirty="0"/>
              <a:t>1) Chat Input</a:t>
            </a:r>
            <a:r>
              <a:rPr lang="en-GB" dirty="0"/>
              <a:t> – Interface where students enter their interests, skill level, academic background, learning preferences, and career goals.</a:t>
            </a:r>
          </a:p>
          <a:p>
            <a:pPr marL="342900" indent="-342900">
              <a:buAutoNum type="arabicParenR"/>
            </a:pPr>
            <a:endParaRPr lang="en-GB" dirty="0"/>
          </a:p>
          <a:p>
            <a:r>
              <a:rPr lang="en-GB" b="1" dirty="0"/>
              <a:t>2) IBM </a:t>
            </a:r>
            <a:r>
              <a:rPr lang="en-GB" b="1" dirty="0" err="1"/>
              <a:t>watsonx</a:t>
            </a:r>
            <a:r>
              <a:rPr lang="en-GB" b="1" dirty="0"/>
              <a:t> AI Agent</a:t>
            </a:r>
            <a:r>
              <a:rPr lang="en-GB" dirty="0"/>
              <a:t> – Processes student inputs using IBM Granite models and coordinates the generation of personalized learning pathways and recommendations.</a:t>
            </a:r>
          </a:p>
          <a:p>
            <a:endParaRPr lang="en-GB" dirty="0"/>
          </a:p>
          <a:p>
            <a:r>
              <a:rPr lang="en-GB" b="1" dirty="0"/>
              <a:t>3) Name of IBM Granite Model</a:t>
            </a:r>
            <a:r>
              <a:rPr lang="en-GB" dirty="0"/>
              <a:t> – </a:t>
            </a:r>
            <a:r>
              <a:rPr lang="en-GB" b="1" dirty="0"/>
              <a:t>Granite-4.0-8B-Instruct</a:t>
            </a:r>
            <a:r>
              <a:rPr lang="en-GB" dirty="0"/>
              <a:t> → Fast and efficient for educational guidance, reasoning, roadmap generation, and personalized recommendations.</a:t>
            </a:r>
          </a:p>
          <a:p>
            <a:endParaRPr lang="en-GB" dirty="0"/>
          </a:p>
          <a:p>
            <a:r>
              <a:rPr lang="en-GB" b="1" dirty="0"/>
              <a:t>4) Chat Output</a:t>
            </a:r>
            <a:r>
              <a:rPr lang="en-GB" dirty="0"/>
              <a:t> – Displays AI-generated learning roadmaps, skill-gap analysis, recommended courses, certifications, project suggestions, and career guidance.</a:t>
            </a:r>
          </a:p>
          <a:p>
            <a:endParaRPr lang="en-GB" dirty="0"/>
          </a:p>
          <a:p>
            <a:r>
              <a:rPr lang="en-GB" b="1" dirty="0"/>
              <a:t>5) File Component</a:t>
            </a:r>
            <a:r>
              <a:rPr lang="en-GB" dirty="0"/>
              <a:t> – Stores and retrieves learning resources, course </a:t>
            </a:r>
            <a:r>
              <a:rPr lang="en-GB" dirty="0" err="1"/>
              <a:t>catalogs</a:t>
            </a:r>
            <a:r>
              <a:rPr lang="en-GB" dirty="0"/>
              <a:t>, educational documents, certification information, and reference materials for RAG-based recommendations.</a:t>
            </a:r>
          </a:p>
          <a:p>
            <a:endParaRPr lang="en-GB" dirty="0"/>
          </a:p>
          <a:p>
            <a:r>
              <a:rPr lang="en-GB" b="1" dirty="0"/>
              <a:t>6) Prompt Template Component</a:t>
            </a:r>
            <a:r>
              <a:rPr lang="en-GB" dirty="0"/>
              <a:t> – Structures and standardizes prompts sent to the IBM Granite model to generate personalized learning pathways based on student goals and skill levels.</a:t>
            </a:r>
          </a:p>
          <a:p>
            <a:pPr marL="342900" indent="-342900">
              <a:buAutoNum type="arabicParenR" startAt="3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workflow -</a:t>
            </a:r>
            <a:endParaRPr sz="2400" b="1" dirty="0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678E8E-6BFA-7B2D-3812-D4F7CABC5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09" y="772306"/>
            <a:ext cx="10887203" cy="593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2B3F97-39F3-52A0-7614-35D507BC05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4" t="7324" r="774" b="12301"/>
          <a:stretch>
            <a:fillRect/>
          </a:stretch>
        </p:blipFill>
        <p:spPr>
          <a:xfrm>
            <a:off x="300624" y="649354"/>
            <a:ext cx="11353786" cy="60242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475488" y="1015093"/>
            <a:ext cx="740664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Intelligent Learning Companion</a:t>
            </a:r>
          </a:p>
          <a:p>
            <a:r>
              <a:rPr lang="en-GB" dirty="0" err="1"/>
              <a:t>LearnMate</a:t>
            </a:r>
            <a:r>
              <a:rPr lang="en-GB" dirty="0"/>
              <a:t> acts as an AI-powered learning mentor that continuously understands student interests, skill levels, and career goals to provide personalized educational guidance.</a:t>
            </a:r>
          </a:p>
          <a:p>
            <a:r>
              <a:rPr lang="en-GB" b="1" dirty="0"/>
              <a:t>Profile Analysis &amp; Understanding</a:t>
            </a:r>
          </a:p>
          <a:p>
            <a:r>
              <a:rPr lang="en-GB" dirty="0"/>
              <a:t>The AI </a:t>
            </a:r>
            <a:r>
              <a:rPr lang="en-GB" dirty="0" err="1"/>
              <a:t>analyzes</a:t>
            </a:r>
            <a:r>
              <a:rPr lang="en-GB" dirty="0"/>
              <a:t> student preferences, educational background, learning style, and career aspirations to build a comprehensive learner profile.</a:t>
            </a:r>
          </a:p>
          <a:p>
            <a:r>
              <a:rPr lang="en-GB" b="1" dirty="0"/>
              <a:t>Skill Gap Assessment</a:t>
            </a:r>
          </a:p>
          <a:p>
            <a:r>
              <a:rPr lang="en-GB" dirty="0"/>
              <a:t>Agentic AI evaluates the student's current proficiency level, identifies strengths and weaknesses, and determines the skills required to achieve desired career goals.</a:t>
            </a:r>
          </a:p>
          <a:p>
            <a:r>
              <a:rPr lang="en-GB" b="1" dirty="0"/>
              <a:t>Personalized Roadmap Generation</a:t>
            </a:r>
          </a:p>
          <a:p>
            <a:r>
              <a:rPr lang="en-GB" dirty="0"/>
              <a:t>Based on learner profiles and skill assessments, the AI dynamically creates customized learning pathways with milestones, timelines, and project recommendations.</a:t>
            </a:r>
          </a:p>
          <a:p>
            <a:r>
              <a:rPr lang="en-GB" b="1" dirty="0"/>
              <a:t>Smart Resource Recommendation</a:t>
            </a:r>
          </a:p>
          <a:p>
            <a:r>
              <a:rPr lang="en-GB" dirty="0"/>
              <a:t>Using Retrieval-Augmented Generation (RAG), </a:t>
            </a:r>
            <a:r>
              <a:rPr lang="en-GB" dirty="0" err="1"/>
              <a:t>LearnMate</a:t>
            </a:r>
            <a:r>
              <a:rPr lang="en-GB" dirty="0"/>
              <a:t> retrieves relevant courses, tutorials, documentation, certifications, and practice resources tailored to individual learning needs.</a:t>
            </a:r>
          </a:p>
          <a:p>
            <a:r>
              <a:rPr lang="en-GB" b="1" dirty="0"/>
              <a:t>Adaptive Learning Guidance</a:t>
            </a:r>
          </a:p>
          <a:p>
            <a:r>
              <a:rPr lang="en-GB" dirty="0"/>
              <a:t>The system continuously refines recommendations based on learner progress, completed courses, feedback, and evolving interests to ensure an effective learning journey.</a:t>
            </a:r>
          </a:p>
          <a:p>
            <a:r>
              <a:rPr lang="en-GB" b="1" dirty="0"/>
              <a:t>Career-Oriented Decision Support</a:t>
            </a:r>
          </a:p>
          <a:p>
            <a:r>
              <a:rPr lang="en-GB" dirty="0" err="1"/>
              <a:t>LearnMate</a:t>
            </a:r>
            <a:r>
              <a:rPr lang="en-GB" dirty="0"/>
              <a:t> aligns learning pathways with industry trends, job roles, certifications, and future career opportunities, helping students make informed decisions.</a:t>
            </a:r>
          </a:p>
          <a:p>
            <a:r>
              <a:rPr lang="en-GB" b="1" dirty="0"/>
              <a:t>Responsible AI with IBM Granite</a:t>
            </a:r>
          </a:p>
          <a:p>
            <a:r>
              <a:rPr lang="en-GB" dirty="0"/>
              <a:t>IBM Granite models and Granite Guardrails ensure reliable, explainable, and safe recommendations while maintaining transparency and reducing biased outputs.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 err="1"/>
              <a:t>LangFlow</a:t>
            </a:r>
            <a:endParaRPr lang="en-IN" sz="1800" b="1" dirty="0"/>
          </a:p>
          <a:p>
            <a:r>
              <a:rPr lang="en-IN" sz="1800" dirty="0"/>
              <a:t>Visual AI workflow orchestration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IBM watsonx.ai</a:t>
            </a:r>
          </a:p>
          <a:p>
            <a:r>
              <a:rPr lang="en-IN" sz="1800" dirty="0"/>
              <a:t>Enterprise AI development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IBM Granite-4.0-8B-Instruct</a:t>
            </a:r>
          </a:p>
          <a:p>
            <a:r>
              <a:rPr lang="en-IN" sz="1800" dirty="0"/>
              <a:t>Foundation model for personalized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RAG</a:t>
            </a:r>
          </a:p>
          <a:p>
            <a:r>
              <a:rPr lang="en-IN" sz="1800" dirty="0"/>
              <a:t>Retrieval-Augmented Generation for contextual responses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Vector Database (FAISS/Chroma)</a:t>
            </a:r>
          </a:p>
          <a:p>
            <a:r>
              <a:rPr lang="en-IN" sz="1800" dirty="0"/>
              <a:t>Stores and retrieves educational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Multi-Agent AI System</a:t>
            </a:r>
          </a:p>
          <a:p>
            <a:r>
              <a:rPr lang="en-IN" sz="1800" dirty="0"/>
              <a:t>Profile Analysis, Skill Assessment, Roadmap Generation &amp; Learning Resource Agents</a:t>
            </a:r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166842"/>
            <a:ext cx="105765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Multi-Agent Intelligence</a:t>
            </a:r>
          </a:p>
          <a:p>
            <a:r>
              <a:rPr lang="en-IN" sz="1800" dirty="0"/>
              <a:t>Multiple AI agents collaborate to provide personalized educational guidance.</a:t>
            </a:r>
          </a:p>
          <a:p>
            <a:r>
              <a:rPr lang="en-IN" sz="1800" b="1" dirty="0"/>
              <a:t>Career-Oriented Learning</a:t>
            </a:r>
          </a:p>
          <a:p>
            <a:r>
              <a:rPr lang="en-IN" sz="1800" dirty="0"/>
              <a:t>Focuses on career goals instead of generic course recommendations.</a:t>
            </a:r>
          </a:p>
          <a:p>
            <a:r>
              <a:rPr lang="en-IN" sz="1800" b="1" dirty="0"/>
              <a:t>RAG-Based Recommendations</a:t>
            </a:r>
          </a:p>
          <a:p>
            <a:r>
              <a:rPr lang="en-IN" sz="1800" dirty="0"/>
              <a:t>Retrieves relevant educational content for accurate guidance.</a:t>
            </a:r>
          </a:p>
          <a:p>
            <a:r>
              <a:rPr lang="en-IN" sz="1800" b="1" dirty="0"/>
              <a:t>Skill Gap Driven Planning</a:t>
            </a:r>
          </a:p>
          <a:p>
            <a:r>
              <a:rPr lang="en-IN" sz="1800" dirty="0"/>
              <a:t>Generates roadmaps based on identified skill deficiencies.</a:t>
            </a:r>
          </a:p>
          <a:p>
            <a:r>
              <a:rPr lang="en-IN" sz="1800" b="1" dirty="0"/>
              <a:t>Adaptive Learning Paths</a:t>
            </a:r>
          </a:p>
          <a:p>
            <a:r>
              <a:rPr lang="en-IN" sz="1800" dirty="0"/>
              <a:t>Continuously evolves recommendations based on learner needs.</a:t>
            </a:r>
          </a:p>
          <a:p>
            <a:r>
              <a:rPr lang="en-IN" sz="1800" b="1" dirty="0"/>
              <a:t>IBM Granite Integration</a:t>
            </a:r>
          </a:p>
          <a:p>
            <a:r>
              <a:rPr lang="en-IN" sz="1800" dirty="0"/>
              <a:t>Uses IBM Granite models for reliable and responsible AI decision-making.</a:t>
            </a:r>
          </a:p>
          <a:p>
            <a:br>
              <a:rPr lang="en-IN" sz="1800" dirty="0"/>
            </a:br>
            <a:r>
              <a:rPr lang="en-GB" sz="1800" dirty="0" err="1"/>
              <a:t>LearnMate</a:t>
            </a:r>
            <a:r>
              <a:rPr lang="en-GB" sz="1800" dirty="0"/>
              <a:t> transforms traditional course recommendation systems into an intelligent AI mentor that understands learner goals, identifies skill gaps, and creates personalized career-focused learning pathways.</a:t>
            </a:r>
            <a:endParaRPr lang="en-IN" sz="1800" dirty="0"/>
          </a:p>
          <a:p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dirty="0"/>
              <a:t>Repository URL: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dirty="0" err="1">
                <a:hlinkClick r:id="rId3"/>
              </a:rPr>
              <a:t>akshyaanand</a:t>
            </a:r>
            <a:r>
              <a:rPr lang="en-IN" sz="2000" dirty="0">
                <a:hlinkClick r:id="rId3"/>
              </a:rPr>
              <a:t>-tech/</a:t>
            </a:r>
            <a:r>
              <a:rPr lang="en-IN" sz="2000" dirty="0" err="1">
                <a:hlinkClick r:id="rId3"/>
              </a:rPr>
              <a:t>LearnMate</a:t>
            </a:r>
            <a:r>
              <a:rPr lang="en-IN" sz="2000" dirty="0">
                <a:hlinkClick r:id="rId3"/>
              </a:rPr>
              <a:t>-Agentic-AI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548640" y="18598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548640" y="752438"/>
            <a:ext cx="11353800" cy="5215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GB" sz="2000" b="1" dirty="0"/>
              <a:t>1. Real-Time Progress Tracking &amp; Adaptive Learning</a:t>
            </a:r>
            <a:br>
              <a:rPr lang="en-GB" sz="2000" dirty="0"/>
            </a:br>
            <a:r>
              <a:rPr lang="en-GB" sz="2000" dirty="0" err="1"/>
              <a:t>LearnMate</a:t>
            </a:r>
            <a:r>
              <a:rPr lang="en-GB" sz="2000" dirty="0"/>
              <a:t> can continuously track completed courses, certifications, and project milestones. Based on learner performance and feedback, the system can dynamically update learning pathways and provide personalized recommendations to support long-term career goals.</a:t>
            </a:r>
          </a:p>
          <a:p>
            <a:r>
              <a:rPr lang="en-GB" sz="2000" b="1" dirty="0"/>
              <a:t>2. AI-Powered Voice Assistant &amp; Multilingual Support</a:t>
            </a:r>
            <a:br>
              <a:rPr lang="en-GB" sz="2000" dirty="0"/>
            </a:br>
            <a:r>
              <a:rPr lang="en-GB" sz="2000" dirty="0"/>
              <a:t>Future enhancements can include voice-based interaction and multilingual support, allowing students to receive guidance, roadmap updates, and recommendations in their preferred language, making the platform more accessible and user-friendly.</a:t>
            </a:r>
          </a:p>
          <a:p>
            <a:r>
              <a:rPr lang="en-GB" sz="2000" b="1" dirty="0"/>
              <a:t>3. Learning Management System (LMS) Integration</a:t>
            </a:r>
            <a:br>
              <a:rPr lang="en-GB" sz="2000" dirty="0"/>
            </a:br>
            <a:r>
              <a:rPr lang="en-GB" sz="2000" dirty="0" err="1"/>
              <a:t>LearnMate</a:t>
            </a:r>
            <a:r>
              <a:rPr lang="en-GB" sz="2000" dirty="0"/>
              <a:t> can be integrated with platforms such as Moodle, Coursera, Udemy, and Google Classroom. This will enable automatic progress tracking, certification updates, and seamless synchronization of learning activities.</a:t>
            </a:r>
          </a:p>
          <a:p>
            <a:r>
              <a:rPr lang="en-GB" sz="2000" b="1" dirty="0"/>
              <a:t>4. Industry Skill Mapping &amp; Placement Readiness</a:t>
            </a:r>
            <a:br>
              <a:rPr lang="en-GB" sz="2000" dirty="0"/>
            </a:br>
            <a:r>
              <a:rPr lang="en-GB" sz="2000" dirty="0"/>
              <a:t>The system can </a:t>
            </a:r>
            <a:r>
              <a:rPr lang="en-GB" sz="2000" dirty="0" err="1"/>
              <a:t>analyze</a:t>
            </a:r>
            <a:r>
              <a:rPr lang="en-GB" sz="2000" dirty="0"/>
              <a:t> industry trends, job requirements, and emerging technologies to recommend relevant skills, certifications, and projects that improve employability and placement readiness.</a:t>
            </a:r>
          </a:p>
          <a:p>
            <a:r>
              <a:rPr lang="en-GB" sz="2000" b="1" dirty="0"/>
              <a:t>5. Collaborative Learning &amp; Peer Recommendations</a:t>
            </a:r>
            <a:br>
              <a:rPr lang="en-GB" sz="2000" dirty="0"/>
            </a:br>
            <a:r>
              <a:rPr lang="en-GB" sz="2000" dirty="0"/>
              <a:t>Future versions can support study groups, peer mentoring, and collaborative projects by connecting learners with similar interests and career aspirations, creating a more engaging learning ecosystem.</a:t>
            </a:r>
          </a:p>
          <a:p>
            <a:endParaRPr lang="en-GB" sz="2000" dirty="0"/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1438</Words>
  <Application>Microsoft Office PowerPoint</Application>
  <PresentationFormat>Widescreen</PresentationFormat>
  <Paragraphs>140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akshyaanand07@gmail.com</cp:lastModifiedBy>
  <cp:revision>24</cp:revision>
  <dcterms:created xsi:type="dcterms:W3CDTF">2025-07-08T05:06:56Z</dcterms:created>
  <dcterms:modified xsi:type="dcterms:W3CDTF">2026-06-09T08:51:58Z</dcterms:modified>
</cp:coreProperties>
</file>